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http://customooxmlschemas.google.com/">
      <go:slidesCustomData xmlns:go="http://customooxmlschemas.google.com/" r:id="rId12" roundtripDataSignature="AMtx7mhjfTg8DoYrR2I7m4TQ4PAKFwkHv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2" name="Google Shape;10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7" name="Google Shape;10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11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11.jp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/>
          <p:nvPr>
            <p:ph type="ctrTitle"/>
          </p:nvPr>
        </p:nvSpPr>
        <p:spPr>
          <a:xfrm>
            <a:off x="369950" y="2700350"/>
            <a:ext cx="2112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b="1" sz="1300">
                <a:solidFill>
                  <a:srgbClr val="2F549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15"/>
          <p:cNvSpPr txBox="1"/>
          <p:nvPr>
            <p:ph idx="1" type="subTitle"/>
          </p:nvPr>
        </p:nvSpPr>
        <p:spPr>
          <a:xfrm>
            <a:off x="548100" y="2986525"/>
            <a:ext cx="1857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sz="1300">
                <a:solidFill>
                  <a:srgbClr val="8DA9DB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  <p:pic>
        <p:nvPicPr>
          <p:cNvPr id="13" name="Google Shape;13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97299" y="1720350"/>
            <a:ext cx="882399" cy="882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49200" y="4429125"/>
            <a:ext cx="566125" cy="49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/>
          <p:nvPr>
            <p:ph type="title"/>
          </p:nvPr>
        </p:nvSpPr>
        <p:spPr>
          <a:xfrm>
            <a:off x="2730950" y="1174450"/>
            <a:ext cx="3000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sz="2400">
                <a:solidFill>
                  <a:srgbClr val="2F549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18"/>
          <p:cNvSpPr txBox="1"/>
          <p:nvPr>
            <p:ph idx="1" type="body"/>
          </p:nvPr>
        </p:nvSpPr>
        <p:spPr>
          <a:xfrm>
            <a:off x="2026875" y="1725600"/>
            <a:ext cx="5545500" cy="16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  <a:defRPr sz="1300"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18" name="Google Shape;18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  <p:pic>
        <p:nvPicPr>
          <p:cNvPr id="19" name="Google Shape;19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5400000">
            <a:off x="8023051" y="4235525"/>
            <a:ext cx="241650" cy="1142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2900" y="0"/>
            <a:ext cx="2010474" cy="104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49200" y="4429125"/>
            <a:ext cx="566125" cy="49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8375" y="4501550"/>
            <a:ext cx="1760224" cy="42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7"/>
          <p:cNvSpPr txBox="1"/>
          <p:nvPr>
            <p:ph type="title"/>
          </p:nvPr>
        </p:nvSpPr>
        <p:spPr>
          <a:xfrm>
            <a:off x="1233275" y="2150850"/>
            <a:ext cx="6916500" cy="59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b="1" sz="2300">
                <a:solidFill>
                  <a:srgbClr val="2F549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5" name="Google Shape;25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  <p:pic>
        <p:nvPicPr>
          <p:cNvPr id="26" name="Google Shape;26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42900" y="0"/>
            <a:ext cx="2010474" cy="1047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17"/>
          <p:cNvGrpSpPr/>
          <p:nvPr/>
        </p:nvGrpSpPr>
        <p:grpSpPr>
          <a:xfrm>
            <a:off x="3618814" y="1610788"/>
            <a:ext cx="1342949" cy="498725"/>
            <a:chOff x="3857364" y="1889088"/>
            <a:chExt cx="1342949" cy="498725"/>
          </a:xfrm>
        </p:grpSpPr>
        <p:pic>
          <p:nvPicPr>
            <p:cNvPr id="28" name="Google Shape;28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5400000">
              <a:off x="4308038" y="1695488"/>
              <a:ext cx="241650" cy="11429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" name="Google Shape;29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634188" y="1889088"/>
              <a:ext cx="566125" cy="4987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4"/>
          <p:cNvSpPr txBox="1"/>
          <p:nvPr>
            <p:ph idx="1" type="body"/>
          </p:nvPr>
        </p:nvSpPr>
        <p:spPr>
          <a:xfrm>
            <a:off x="1029850" y="1476600"/>
            <a:ext cx="7885500" cy="219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04165" lvl="0" marL="4572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190"/>
              <a:buChar char="●"/>
              <a:defRPr sz="1305">
                <a:solidFill>
                  <a:srgbClr val="2F5496"/>
                </a:solidFill>
                <a:latin typeface="Verdana"/>
                <a:ea typeface="Verdana"/>
                <a:cs typeface="Verdana"/>
                <a:sym typeface="Verdana"/>
              </a:defRPr>
            </a:lvl1pPr>
          </a:lstStyle>
          <a:p/>
        </p:txBody>
      </p:sp>
      <p:sp>
        <p:nvSpPr>
          <p:cNvPr id="32" name="Google Shape;32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  <p:pic>
        <p:nvPicPr>
          <p:cNvPr id="33" name="Google Shape;33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5400000">
            <a:off x="8023051" y="4235525"/>
            <a:ext cx="241650" cy="1142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3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234026" y="1054651"/>
            <a:ext cx="795825" cy="3034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5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49200" y="4429125"/>
            <a:ext cx="566125" cy="49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6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2900" y="0"/>
            <a:ext cx="2010474" cy="104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  <p:pic>
        <p:nvPicPr>
          <p:cNvPr id="39" name="Google Shape;39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42900" y="0"/>
            <a:ext cx="2010474" cy="104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40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8023051" y="4235525"/>
            <a:ext cx="241650" cy="1142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41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49200" y="4429125"/>
            <a:ext cx="566125" cy="49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6"/>
          <p:cNvSpPr txBox="1"/>
          <p:nvPr>
            <p:ph type="title"/>
          </p:nvPr>
        </p:nvSpPr>
        <p:spPr>
          <a:xfrm>
            <a:off x="604350" y="661100"/>
            <a:ext cx="3000000" cy="466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b="1" sz="2400">
                <a:solidFill>
                  <a:srgbClr val="2F549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Google Shape;44;p16"/>
          <p:cNvSpPr txBox="1"/>
          <p:nvPr>
            <p:ph idx="1" type="body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45" name="Google Shape;45;p16"/>
          <p:cNvSpPr txBox="1"/>
          <p:nvPr>
            <p:ph idx="2" type="body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46" name="Google Shape;46;p1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7" name="Google Shape;47;p1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8" name="Google Shape;48;p1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  <p:pic>
        <p:nvPicPr>
          <p:cNvPr id="49" name="Google Shape;49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42900" y="0"/>
            <a:ext cx="2010474" cy="104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" name="Google Shape;5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8023051" y="4235525"/>
            <a:ext cx="241650" cy="1142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1" name="Google Shape;5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49200" y="4429125"/>
            <a:ext cx="566125" cy="49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52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8375" y="4501550"/>
            <a:ext cx="1760224" cy="42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" name="Google Shape;55;p1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6" name="Google Shape;56;p1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7" name="Google Shape;57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3" name="Google Shape;63;p2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4" name="Google Shape;64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67" name="Google Shape;67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2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71" name="Google Shape;71;p2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72" name="Google Shape;72;p2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76" name="Google Shape;76;p2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1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"/>
          <p:cNvSpPr txBox="1"/>
          <p:nvPr>
            <p:ph idx="1" type="subTitle"/>
          </p:nvPr>
        </p:nvSpPr>
        <p:spPr>
          <a:xfrm>
            <a:off x="548100" y="2986525"/>
            <a:ext cx="1857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-419"/>
              <a:t>Estudios SECOM</a:t>
            </a:r>
            <a:endParaRPr/>
          </a:p>
        </p:txBody>
      </p:sp>
      <p:sp>
        <p:nvSpPr>
          <p:cNvPr id="83" name="Google Shape;83;p1"/>
          <p:cNvSpPr txBox="1"/>
          <p:nvPr>
            <p:ph type="ctrTitle"/>
          </p:nvPr>
        </p:nvSpPr>
        <p:spPr>
          <a:xfrm>
            <a:off x="369950" y="2700350"/>
            <a:ext cx="2112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s-419"/>
              <a:t>Análisis Ola 24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"/>
          <p:cNvSpPr txBox="1"/>
          <p:nvPr>
            <p:ph type="title"/>
          </p:nvPr>
        </p:nvSpPr>
        <p:spPr>
          <a:xfrm>
            <a:off x="2730950" y="1174450"/>
            <a:ext cx="3000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-419"/>
              <a:t>Metodología</a:t>
            </a:r>
            <a:endParaRPr/>
          </a:p>
        </p:txBody>
      </p:sp>
      <p:sp>
        <p:nvSpPr>
          <p:cNvPr id="89" name="Google Shape;89;p2"/>
          <p:cNvSpPr txBox="1"/>
          <p:nvPr>
            <p:ph idx="1" type="body"/>
          </p:nvPr>
        </p:nvSpPr>
        <p:spPr>
          <a:xfrm>
            <a:off x="2026875" y="1725600"/>
            <a:ext cx="5545500" cy="16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73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300"/>
              <a:buFont typeface="Verdana"/>
              <a:buAutoNum type="arabicPeriod"/>
            </a:pPr>
            <a:r>
              <a:rPr lang="es-419">
                <a:solidFill>
                  <a:srgbClr val="0B5394"/>
                </a:solidFill>
              </a:rPr>
              <a:t>Encuesta online</a:t>
            </a:r>
            <a:endParaRPr>
              <a:solidFill>
                <a:srgbClr val="0B5394"/>
              </a:solidFill>
            </a:endParaRPr>
          </a:p>
          <a:p>
            <a:pPr indent="-3873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300"/>
              <a:buAutoNum type="arabicPeriod"/>
            </a:pPr>
            <a:r>
              <a:rPr lang="es-419">
                <a:solidFill>
                  <a:srgbClr val="0B5394"/>
                </a:solidFill>
              </a:rPr>
              <a:t>N = 1.200 casos</a:t>
            </a:r>
            <a:endParaRPr b="1">
              <a:solidFill>
                <a:srgbClr val="0B5394"/>
              </a:solidFill>
            </a:endParaRPr>
          </a:p>
          <a:p>
            <a:pPr indent="-3873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300"/>
              <a:buAutoNum type="arabicPeriod"/>
            </a:pPr>
            <a:r>
              <a:rPr lang="es-419">
                <a:solidFill>
                  <a:srgbClr val="0B5394"/>
                </a:solidFill>
              </a:rPr>
              <a:t>Campo: 06 al 10 de Abril 2023</a:t>
            </a:r>
            <a:endParaRPr b="1">
              <a:solidFill>
                <a:srgbClr val="0B5394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rgbClr val="0B5394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8023051" y="4235525"/>
            <a:ext cx="241650" cy="1142999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3"/>
          <p:cNvSpPr txBox="1"/>
          <p:nvPr/>
        </p:nvSpPr>
        <p:spPr>
          <a:xfrm>
            <a:off x="2026875" y="1728550"/>
            <a:ext cx="55455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73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300"/>
              <a:buFont typeface="Verdana"/>
              <a:buAutoNum type="arabicPeriod"/>
            </a:pPr>
            <a:r>
              <a:rPr b="0" i="0" lang="es-419" sz="1300" u="none" cap="none" strike="noStrike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>Aprobación</a:t>
            </a:r>
            <a:endParaRPr b="0" i="0" sz="1300" u="none" cap="none" strike="noStrike">
              <a:solidFill>
                <a:srgbClr val="0B539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73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300"/>
              <a:buFont typeface="Arial"/>
              <a:buAutoNum type="arabicPeriod"/>
            </a:pPr>
            <a:r>
              <a:rPr b="0" i="0" lang="es-419" sz="1300" u="none" cap="none" strike="noStrike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>Clima de violencia</a:t>
            </a:r>
            <a:endParaRPr b="1" i="0" sz="1300" u="none" cap="none" strike="noStrike">
              <a:solidFill>
                <a:srgbClr val="0B539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73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300"/>
              <a:buFont typeface="Arial"/>
              <a:buAutoNum type="arabicPeriod"/>
            </a:pPr>
            <a:r>
              <a:rPr b="0" i="0" lang="es-419" sz="1300" u="none" cap="none" strike="noStrike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>Seguridad</a:t>
            </a:r>
            <a:endParaRPr b="0" i="0" sz="1300" u="none" cap="none" strike="noStrike">
              <a:solidFill>
                <a:srgbClr val="0B539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73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300"/>
              <a:buFont typeface="Arial"/>
              <a:buAutoNum type="arabicPeriod"/>
            </a:pPr>
            <a:r>
              <a:rPr b="0" i="0" lang="es-419" sz="1300" u="none" cap="none" strike="noStrike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>Retiros de fondos de pensiones</a:t>
            </a:r>
            <a:endParaRPr b="0" i="0" sz="1300" u="none" cap="none" strike="noStrike">
              <a:solidFill>
                <a:srgbClr val="0B539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73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300"/>
              <a:buFont typeface="Arial"/>
              <a:buAutoNum type="arabicPeriod"/>
            </a:pPr>
            <a:r>
              <a:rPr b="0" i="0" lang="es-419" sz="1300" u="none" cap="none" strike="noStrike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>Conclusiones</a:t>
            </a:r>
            <a:endParaRPr b="0" i="0" sz="1300" u="none" cap="none" strike="noStrike">
              <a:solidFill>
                <a:srgbClr val="0B539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B539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6" name="Google Shape;96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2900" y="0"/>
            <a:ext cx="2010474" cy="104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49200" y="4429125"/>
            <a:ext cx="566125" cy="49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8375" y="4501550"/>
            <a:ext cx="1760224" cy="4263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3"/>
          <p:cNvSpPr txBox="1"/>
          <p:nvPr/>
        </p:nvSpPr>
        <p:spPr>
          <a:xfrm>
            <a:off x="2730950" y="1174450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419" sz="2400" u="none" cap="none" strike="noStrike">
                <a:solidFill>
                  <a:srgbClr val="2F5496"/>
                </a:solidFill>
                <a:latin typeface="Verdana"/>
                <a:ea typeface="Verdana"/>
                <a:cs typeface="Verdana"/>
                <a:sym typeface="Verdana"/>
              </a:rPr>
              <a:t>Índice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 txBox="1"/>
          <p:nvPr/>
        </p:nvSpPr>
        <p:spPr>
          <a:xfrm>
            <a:off x="1398926" y="2174325"/>
            <a:ext cx="65802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s-419" sz="2300" u="none" cap="none" strike="noStrike">
                <a:solidFill>
                  <a:srgbClr val="2F5496"/>
                </a:solidFill>
                <a:latin typeface="Verdana"/>
                <a:ea typeface="Verdana"/>
                <a:cs typeface="Verdana"/>
                <a:sym typeface="Verdana"/>
              </a:rPr>
              <a:t>Aprobación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8"/>
          <p:cNvSpPr txBox="1"/>
          <p:nvPr>
            <p:ph idx="1" type="body"/>
          </p:nvPr>
        </p:nvSpPr>
        <p:spPr>
          <a:xfrm>
            <a:off x="1029850" y="1476600"/>
            <a:ext cx="7885500" cy="219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1467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305"/>
              <a:buFont typeface="Verdana"/>
              <a:buChar char="●"/>
            </a:pPr>
            <a:r>
              <a:rPr lang="es-419"/>
              <a:t>Resumen:</a:t>
            </a:r>
            <a:endParaRPr/>
          </a:p>
          <a:p>
            <a:pPr indent="-311467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305"/>
              <a:buFont typeface="Verdana"/>
              <a:buChar char="○"/>
            </a:pPr>
            <a:r>
              <a:rPr lang="es-419">
                <a:solidFill>
                  <a:srgbClr val="2F5496"/>
                </a:solidFill>
              </a:rPr>
              <a:t>La aprobación presidencial se mantuvo en 31%, y la desaprobación aumentó 6 puntos a 56%.</a:t>
            </a:r>
            <a:endParaRPr>
              <a:solidFill>
                <a:srgbClr val="2F5496"/>
              </a:solidFill>
            </a:endParaRPr>
          </a:p>
          <a:p>
            <a:pPr indent="-311467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305"/>
              <a:buFont typeface="Verdana"/>
              <a:buChar char="○"/>
            </a:pPr>
            <a:r>
              <a:rPr lang="es-419">
                <a:solidFill>
                  <a:srgbClr val="2F5496"/>
                </a:solidFill>
              </a:rPr>
              <a:t>Donde quienes desaprueban son hombres; de 55 años y más; de la Patagonia; del segmento socioeconómico C3; y opositor al Gobierno.</a:t>
            </a:r>
            <a:endParaRPr>
              <a:solidFill>
                <a:srgbClr val="2F5496"/>
              </a:solidFill>
            </a:endParaRPr>
          </a:p>
          <a:p>
            <a:pPr indent="-311467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305"/>
              <a:buFont typeface="Verdana"/>
              <a:buChar char="○"/>
            </a:pPr>
            <a:r>
              <a:rPr lang="es-419">
                <a:solidFill>
                  <a:srgbClr val="2F5496"/>
                </a:solidFill>
              </a:rPr>
              <a:t>Respecto al desempeño del presidente en una escala del 1 al 7, donde 1 es la más baja y 7 la más alta, el mayor porcentaje se sitúa entre las notas 1-3 con 45%, aumentando un punto.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76513" y="1721700"/>
            <a:ext cx="1590975" cy="159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